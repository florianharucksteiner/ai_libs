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F4A23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2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4A2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3B5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5E6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PyTorch</c:v>
                  </c:pt>
                  <c:pt idx="1">
                    <c:v>TensorFlow</c:v>
                  </c:pt>
                  <c:pt idx="2">
                    <c:v>Keras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87.5</c:v>
                </c:pt>
                <c:pt idx="1">
                  <c:v>87.2</c:v>
                </c:pt>
                <c:pt idx="2">
                  <c:v>87.6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200" u="none">
                  <a:solidFill>
                    <a:srgbClr val="1B2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B2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F4A23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2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4A2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3B5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5E6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PyTorch</c:v>
                  </c:pt>
                  <c:pt idx="1">
                    <c:v>TensorFlow</c:v>
                  </c:pt>
                  <c:pt idx="2">
                    <c:v>Keras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72.08</c:v>
                </c:pt>
                <c:pt idx="1">
                  <c:v>71.49</c:v>
                </c:pt>
                <c:pt idx="2">
                  <c:v>69.39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200" u="none">
                  <a:solidFill>
                    <a:srgbClr val="1B2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B2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914400"/>
            <a:ext cx="146304" cy="146304"/>
          </a:xfrm>
          <a:prstGeom prst="ellipse">
            <a:avLst/>
          </a:prstGeom>
          <a:solidFill>
            <a:srgbClr val="13B5A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914400"/>
            <a:ext cx="146304" cy="146304"/>
          </a:xfrm>
          <a:prstGeom prst="ellipse">
            <a:avLst/>
          </a:prstGeom>
          <a:solidFill>
            <a:srgbClr val="5EEAD4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914400"/>
            <a:ext cx="146304" cy="146304"/>
          </a:xfrm>
          <a:prstGeom prst="ellipse">
            <a:avLst/>
          </a:prstGeom>
          <a:solidFill>
            <a:srgbClr val="F4A23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01400" y="914400"/>
            <a:ext cx="146304" cy="146304"/>
          </a:xfrm>
          <a:prstGeom prst="ellipse">
            <a:avLst/>
          </a:prstGeom>
          <a:solidFill>
            <a:srgbClr val="EF5E6B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869680" y="1828800"/>
            <a:ext cx="146304" cy="146304"/>
          </a:xfrm>
          <a:prstGeom prst="ellipse">
            <a:avLst/>
          </a:prstGeom>
          <a:solidFill>
            <a:srgbClr val="5EEAD4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646920" y="1828800"/>
            <a:ext cx="146304" cy="146304"/>
          </a:xfrm>
          <a:prstGeom prst="ellipse">
            <a:avLst/>
          </a:prstGeom>
          <a:solidFill>
            <a:srgbClr val="F4A23C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0" y="1828800"/>
            <a:ext cx="146304" cy="146304"/>
          </a:xfrm>
          <a:prstGeom prst="ellipse">
            <a:avLst/>
          </a:prstGeom>
          <a:solidFill>
            <a:srgbClr val="EF5E6B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201400" y="1828800"/>
            <a:ext cx="146304" cy="146304"/>
          </a:xfrm>
          <a:prstGeom prst="ellipse">
            <a:avLst/>
          </a:prstGeom>
          <a:solidFill>
            <a:srgbClr val="13B5A6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869680" y="2743200"/>
            <a:ext cx="146304" cy="146304"/>
          </a:xfrm>
          <a:prstGeom prst="ellipse">
            <a:avLst/>
          </a:prstGeom>
          <a:solidFill>
            <a:srgbClr val="F4A23C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646920" y="2743200"/>
            <a:ext cx="146304" cy="146304"/>
          </a:xfrm>
          <a:prstGeom prst="ellipse">
            <a:avLst/>
          </a:prstGeom>
          <a:solidFill>
            <a:srgbClr val="EF5E6B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424160" y="2743200"/>
            <a:ext cx="146304" cy="146304"/>
          </a:xfrm>
          <a:prstGeom prst="ellipse">
            <a:avLst/>
          </a:prstGeom>
          <a:solidFill>
            <a:srgbClr val="13B5A6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201400" y="2743200"/>
            <a:ext cx="146304" cy="146304"/>
          </a:xfrm>
          <a:prstGeom prst="ellipse">
            <a:avLst/>
          </a:prstGeom>
          <a:solidFill>
            <a:srgbClr val="5EEAD4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869680" y="3657600"/>
            <a:ext cx="146304" cy="146304"/>
          </a:xfrm>
          <a:prstGeom prst="ellipse">
            <a:avLst/>
          </a:prstGeom>
          <a:solidFill>
            <a:srgbClr val="EF5E6B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646920" y="3657600"/>
            <a:ext cx="146304" cy="146304"/>
          </a:xfrm>
          <a:prstGeom prst="ellipse">
            <a:avLst/>
          </a:prstGeom>
          <a:solidFill>
            <a:srgbClr val="13B5A6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424160" y="3657600"/>
            <a:ext cx="146304" cy="146304"/>
          </a:xfrm>
          <a:prstGeom prst="ellipse">
            <a:avLst/>
          </a:prstGeom>
          <a:solidFill>
            <a:srgbClr val="5EEAD4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201400" y="3657600"/>
            <a:ext cx="146304" cy="146304"/>
          </a:xfrm>
          <a:prstGeom prst="ellipse">
            <a:avLst/>
          </a:prstGeom>
          <a:solidFill>
            <a:srgbClr val="F4A23C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869680" y="4572000"/>
            <a:ext cx="146304" cy="146304"/>
          </a:xfrm>
          <a:prstGeom prst="ellipse">
            <a:avLst/>
          </a:prstGeom>
          <a:solidFill>
            <a:srgbClr val="13B5A6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646920" y="4572000"/>
            <a:ext cx="146304" cy="146304"/>
          </a:xfrm>
          <a:prstGeom prst="ellipse">
            <a:avLst/>
          </a:prstGeom>
          <a:solidFill>
            <a:srgbClr val="5EEAD4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424160" y="4572000"/>
            <a:ext cx="146304" cy="146304"/>
          </a:xfrm>
          <a:prstGeom prst="ellipse">
            <a:avLst/>
          </a:prstGeom>
          <a:solidFill>
            <a:srgbClr val="F4A23C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201400" y="4572000"/>
            <a:ext cx="146304" cy="146304"/>
          </a:xfrm>
          <a:prstGeom prst="ellipse">
            <a:avLst/>
          </a:prstGeom>
          <a:solidFill>
            <a:srgbClr val="EF5E6B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flipV="1">
            <a:off x="9015984" y="987552"/>
            <a:ext cx="2331720" cy="2743200"/>
          </a:xfrm>
          <a:prstGeom prst="line">
            <a:avLst/>
          </a:prstGeom>
          <a:noFill/>
          <a:ln w="9525">
            <a:solidFill>
              <a:srgbClr val="13B5A6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15984" y="987552"/>
            <a:ext cx="2331720" cy="2743200"/>
          </a:xfrm>
          <a:prstGeom prst="line">
            <a:avLst/>
          </a:prstGeom>
          <a:noFill/>
          <a:ln w="9525">
            <a:solidFill>
              <a:srgbClr val="F4A23C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FRAMEWORK-ANALYSE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18288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Deep-Learning-Frameworks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 Vergleich</a:t>
            </a:r>
            <a:endParaRPr lang="en-US" sz="4600" dirty="0"/>
          </a:p>
        </p:txBody>
      </p:sp>
      <p:sp>
        <p:nvSpPr>
          <p:cNvPr id="26" name="Text 24"/>
          <p:cNvSpPr/>
          <p:nvPr/>
        </p:nvSpPr>
        <p:spPr>
          <a:xfrm>
            <a:off x="73152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PyTorch</a:t>
            </a:r>
            <a:pPr indent="0" marL="0">
              <a:buNone/>
            </a:pPr>
            <a:r>
              <a:rPr lang="en-US" sz="2200" dirty="0">
                <a:solidFill>
                  <a:srgbClr val="5B6B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</a:t>
            </a:r>
            <a:pPr indent="0" marL="0">
              <a:buNone/>
            </a:pPr>
            <a:r>
              <a:rPr lang="en-US" sz="2200" b="1" dirty="0">
                <a:solidFill>
                  <a:srgbClr val="13B5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TensorFlow</a:t>
            </a:r>
            <a:pPr indent="0" marL="0">
              <a:buNone/>
            </a:pPr>
            <a:r>
              <a:rPr lang="en-US" sz="2200" dirty="0">
                <a:solidFill>
                  <a:srgbClr val="5B6B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</a:t>
            </a:r>
            <a:pPr indent="0" marL="0">
              <a:buNone/>
            </a:pPr>
            <a:r>
              <a:rPr lang="en-US" sz="2200" b="1" dirty="0">
                <a:solidFill>
                  <a:srgbClr val="EF5E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Keras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152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 ·  Fashion-MNIST  ·  CIFAR-10  —  Aufbau, Abstraktion &amp; Ergebnisse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49808" y="4800600"/>
            <a:ext cx="2926080" cy="0"/>
          </a:xfrm>
          <a:prstGeom prst="line">
            <a:avLst/>
          </a:prstGeom>
          <a:noFill/>
          <a:ln w="25400">
            <a:solidFill>
              <a:srgbClr val="13B5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983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Florian Harucksteiner  ·  4AHITS  ·  SWE-Abschlussprojekt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Worum es geht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5780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82296" cy="1298448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6" name="Shape 4"/>
          <p:cNvSpPr/>
          <p:nvPr/>
        </p:nvSpPr>
        <p:spPr>
          <a:xfrm>
            <a:off x="987552" y="1828800"/>
            <a:ext cx="749808" cy="749808"/>
          </a:xfrm>
          <a:prstGeom prst="ellipse">
            <a:avLst/>
          </a:prstGeom>
          <a:solidFill>
            <a:srgbClr val="E5F6F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02082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46320" y="16642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AF0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965960" y="18470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Grundbegriffe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965960" y="223113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Tensor, Optimizer, Loss, Epoche, Batch-Size, Accuracy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1554480"/>
            <a:ext cx="525780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1554480"/>
            <a:ext cx="82296" cy="1298448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13" name="Shape 10"/>
          <p:cNvSpPr/>
          <p:nvPr/>
        </p:nvSpPr>
        <p:spPr>
          <a:xfrm>
            <a:off x="6611112" y="1828800"/>
            <a:ext cx="749808" cy="749808"/>
          </a:xfrm>
          <a:prstGeom prst="ellipse">
            <a:avLst/>
          </a:prstGeom>
          <a:solidFill>
            <a:srgbClr val="E5F6F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36" y="202082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469880" y="16642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AF0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7589520" y="184708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Die drei Frameworks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589520" y="223113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PyTorch, TensorFlow &amp; Keras im direkten Vergleich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0080" y="3108960"/>
            <a:ext cx="525780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080" y="3108960"/>
            <a:ext cx="82296" cy="1298448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20" name="Shape 16"/>
          <p:cNvSpPr/>
          <p:nvPr/>
        </p:nvSpPr>
        <p:spPr>
          <a:xfrm>
            <a:off x="987552" y="3383280"/>
            <a:ext cx="749808" cy="749808"/>
          </a:xfrm>
          <a:prstGeom prst="ellipse">
            <a:avLst/>
          </a:prstGeom>
          <a:solidFill>
            <a:srgbClr val="E5F6F3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3575304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46320" y="32186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AF0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600" dirty="0"/>
          </a:p>
        </p:txBody>
      </p:sp>
      <p:sp>
        <p:nvSpPr>
          <p:cNvPr id="23" name="Text 18"/>
          <p:cNvSpPr/>
          <p:nvPr/>
        </p:nvSpPr>
        <p:spPr>
          <a:xfrm>
            <a:off x="1965960" y="34015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Abstraktionsebenen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1965960" y="378561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 Trainingsschleife vs. fit() / evaluate()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263640" y="3108960"/>
            <a:ext cx="525780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263640" y="3108960"/>
            <a:ext cx="82296" cy="1298448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27" name="Shape 22"/>
          <p:cNvSpPr/>
          <p:nvPr/>
        </p:nvSpPr>
        <p:spPr>
          <a:xfrm>
            <a:off x="6611112" y="3383280"/>
            <a:ext cx="749808" cy="749808"/>
          </a:xfrm>
          <a:prstGeom prst="ellipse">
            <a:avLst/>
          </a:prstGeom>
          <a:solidFill>
            <a:srgbClr val="E5F6F3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36" y="3575304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469880" y="32186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AF0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600" dirty="0"/>
          </a:p>
        </p:txBody>
      </p:sp>
      <p:sp>
        <p:nvSpPr>
          <p:cNvPr id="30" name="Text 24"/>
          <p:cNvSpPr/>
          <p:nvPr/>
        </p:nvSpPr>
        <p:spPr>
          <a:xfrm>
            <a:off x="7589520" y="34015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Fashion-MNIST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7589520" y="378561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 Architektur, drei Frameworks — Accuracy ~87 %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640080" y="4663440"/>
            <a:ext cx="525780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40080" y="4663440"/>
            <a:ext cx="82296" cy="1298448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34" name="Shape 28"/>
          <p:cNvSpPr/>
          <p:nvPr/>
        </p:nvSpPr>
        <p:spPr>
          <a:xfrm>
            <a:off x="987552" y="4937760"/>
            <a:ext cx="749808" cy="749808"/>
          </a:xfrm>
          <a:prstGeom prst="ellipse">
            <a:avLst/>
          </a:prstGeom>
          <a:solidFill>
            <a:srgbClr val="E5F6F3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5129784"/>
            <a:ext cx="365760" cy="36576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846320" y="47731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AF0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600" dirty="0"/>
          </a:p>
        </p:txBody>
      </p:sp>
      <p:sp>
        <p:nvSpPr>
          <p:cNvPr id="37" name="Text 30"/>
          <p:cNvSpPr/>
          <p:nvPr/>
        </p:nvSpPr>
        <p:spPr>
          <a:xfrm>
            <a:off x="1965960" y="49560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CIFAR-10 &amp; CNNs</a:t>
            </a:r>
            <a:endParaRPr lang="en-US" sz="1700" dirty="0"/>
          </a:p>
        </p:txBody>
      </p:sp>
      <p:sp>
        <p:nvSpPr>
          <p:cNvPr id="38" name="Text 31"/>
          <p:cNvSpPr/>
          <p:nvPr/>
        </p:nvSpPr>
        <p:spPr>
          <a:xfrm>
            <a:off x="1965960" y="534009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Faltungsnetze Farbbilder besser lösen</a:t>
            </a:r>
            <a:endParaRPr lang="en-US" sz="1250" dirty="0"/>
          </a:p>
        </p:txBody>
      </p:sp>
      <p:sp>
        <p:nvSpPr>
          <p:cNvPr id="39" name="Shape 32"/>
          <p:cNvSpPr/>
          <p:nvPr/>
        </p:nvSpPr>
        <p:spPr>
          <a:xfrm>
            <a:off x="6263640" y="4663440"/>
            <a:ext cx="525780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263640" y="4663440"/>
            <a:ext cx="82296" cy="1298448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41" name="Shape 34"/>
          <p:cNvSpPr/>
          <p:nvPr/>
        </p:nvSpPr>
        <p:spPr>
          <a:xfrm>
            <a:off x="6611112" y="4937760"/>
            <a:ext cx="749808" cy="749808"/>
          </a:xfrm>
          <a:prstGeom prst="ellipse">
            <a:avLst/>
          </a:prstGeom>
          <a:solidFill>
            <a:srgbClr val="E5F6F3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3136" y="5129784"/>
            <a:ext cx="365760" cy="36576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0469880" y="47731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AF0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600" dirty="0"/>
          </a:p>
        </p:txBody>
      </p:sp>
      <p:sp>
        <p:nvSpPr>
          <p:cNvPr id="44" name="Text 36"/>
          <p:cNvSpPr/>
          <p:nvPr/>
        </p:nvSpPr>
        <p:spPr>
          <a:xfrm>
            <a:off x="7589520" y="49560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Erkenntnisse</a:t>
            </a:r>
            <a:endParaRPr lang="en-US" sz="1700" dirty="0"/>
          </a:p>
        </p:txBody>
      </p:sp>
      <p:sp>
        <p:nvSpPr>
          <p:cNvPr id="45" name="Text 37"/>
          <p:cNvSpPr/>
          <p:nvPr/>
        </p:nvSpPr>
        <p:spPr>
          <a:xfrm>
            <a:off x="7589520" y="534009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Grenzen der Modelle &amp; Verbesserungsansätze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Die wichtigsten Begriffe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456432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801368"/>
            <a:ext cx="640080" cy="640080"/>
          </a:xfrm>
          <a:prstGeom prst="ellipse">
            <a:avLst/>
          </a:prstGeom>
          <a:solidFill>
            <a:srgbClr val="E5F6F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94767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2532888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Tensor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32688" y="2880360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Zentrale, beliebig-dimensionale Datenstruktur, in der die Frameworks rechnen.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98264" y="1508760"/>
            <a:ext cx="3456432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90872" y="1801368"/>
            <a:ext cx="640080" cy="640080"/>
          </a:xfrm>
          <a:prstGeom prst="ellipse">
            <a:avLst/>
          </a:prstGeom>
          <a:solidFill>
            <a:srgbClr val="E5F6F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194767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0872" y="2532888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90872" y="2880360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Algorithmus, der den Loss minimiert (z. B. Adam, SGD).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56448" y="1508760"/>
            <a:ext cx="3456432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801368"/>
            <a:ext cx="640080" cy="640080"/>
          </a:xfrm>
          <a:prstGeom prst="ellipse">
            <a:avLst/>
          </a:prstGeom>
          <a:solidFill>
            <a:srgbClr val="E5F6F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94767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532888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Loss-Funktion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49056" y="2880360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Misst, wie falsch die Vorhersage ist — wird minimiert.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584448"/>
            <a:ext cx="3456432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2688" y="3877056"/>
            <a:ext cx="640080" cy="640080"/>
          </a:xfrm>
          <a:prstGeom prst="ellipse">
            <a:avLst/>
          </a:prstGeom>
          <a:solidFill>
            <a:srgbClr val="E5F6F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02336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" y="4608576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Epoche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932688" y="4956048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vollständiger Durchlauf durch den gesamten Trainingsdatensatz.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98264" y="3584448"/>
            <a:ext cx="3456432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90872" y="3877056"/>
            <a:ext cx="640080" cy="640080"/>
          </a:xfrm>
          <a:prstGeom prst="ellipse">
            <a:avLst/>
          </a:prstGeom>
          <a:solidFill>
            <a:srgbClr val="E5F6F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7176" y="4023360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90872" y="4608576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Batch-Size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4690872" y="4956048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Anzahl der Trainingsbeispiele, die in einem Schritt zusammengefasst werden.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56448" y="3584448"/>
            <a:ext cx="3456432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49056" y="3877056"/>
            <a:ext cx="640080" cy="640080"/>
          </a:xfrm>
          <a:prstGeom prst="ellipse">
            <a:avLst/>
          </a:prstGeom>
          <a:solidFill>
            <a:srgbClr val="E5F6F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4023360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49056" y="4608576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8449056" y="4956048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Anteil korrekter Vorhersagen auf ungesehenen Testdaten.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WERKZEUGE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Drei Frameworks, ein Ökosystem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352044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554480"/>
            <a:ext cx="3520440" cy="128016"/>
          </a:xfrm>
          <a:prstGeom prst="rect">
            <a:avLst/>
          </a:prstGeom>
          <a:solidFill>
            <a:srgbClr val="F4A23C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65960"/>
            <a:ext cx="868680" cy="868680"/>
          </a:xfrm>
          <a:prstGeom prst="ellipse">
            <a:avLst/>
          </a:prstGeom>
          <a:solidFill>
            <a:srgbClr val="FDEFD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2185416"/>
            <a:ext cx="429768" cy="429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2971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PyTorch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024128" y="33832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FRAMEWORK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24128" y="38404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C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Entwicklung von Neural-Nets mit Tensoren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C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Explizite, sichtbare Trainingsschleife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C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 Kontrolle über jeden Schritt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98848" y="1554480"/>
            <a:ext cx="352044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98848" y="1554480"/>
            <a:ext cx="3520440" cy="128016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13" name="Shape 10"/>
          <p:cNvSpPr/>
          <p:nvPr/>
        </p:nvSpPr>
        <p:spPr>
          <a:xfrm>
            <a:off x="4864608" y="1965960"/>
            <a:ext cx="868680" cy="868680"/>
          </a:xfrm>
          <a:prstGeom prst="ellipse">
            <a:avLst/>
          </a:prstGeom>
          <a:solidFill>
            <a:srgbClr val="DAF3F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064" y="2185416"/>
            <a:ext cx="429768" cy="4297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64608" y="2971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TensorFlow</a:t>
            </a:r>
            <a:endParaRPr lang="en-US" sz="2300" dirty="0"/>
          </a:p>
        </p:txBody>
      </p:sp>
      <p:sp>
        <p:nvSpPr>
          <p:cNvPr id="16" name="Text 12"/>
          <p:cNvSpPr/>
          <p:nvPr/>
        </p:nvSpPr>
        <p:spPr>
          <a:xfrm>
            <a:off x="4864608" y="33832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UMFASSENDES FRAMEWORK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864608" y="38404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C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Open-Source-Framework für Machine Learning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C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Stellt Tensoren &amp; Low-Level-Funktionen bereit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C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Basis, auf der Keras aufsetzt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339328" y="1554480"/>
            <a:ext cx="352044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39328" y="1554480"/>
            <a:ext cx="3520440" cy="128016"/>
          </a:xfrm>
          <a:prstGeom prst="rect">
            <a:avLst/>
          </a:prstGeom>
          <a:solidFill>
            <a:srgbClr val="EF5E6B"/>
          </a:solidFill>
          <a:ln/>
        </p:spPr>
      </p:sp>
      <p:sp>
        <p:nvSpPr>
          <p:cNvPr id="20" name="Shape 16"/>
          <p:cNvSpPr/>
          <p:nvPr/>
        </p:nvSpPr>
        <p:spPr>
          <a:xfrm>
            <a:off x="8705088" y="1965960"/>
            <a:ext cx="868680" cy="868680"/>
          </a:xfrm>
          <a:prstGeom prst="ellipse">
            <a:avLst/>
          </a:prstGeom>
          <a:solidFill>
            <a:srgbClr val="FBE0E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2185416"/>
            <a:ext cx="429768" cy="4297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705088" y="2971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Keras</a:t>
            </a:r>
            <a:endParaRPr lang="en-US" sz="2300" dirty="0"/>
          </a:p>
        </p:txBody>
      </p:sp>
      <p:sp>
        <p:nvSpPr>
          <p:cNvPr id="23" name="Text 18"/>
          <p:cNvSpPr/>
          <p:nvPr/>
        </p:nvSpPr>
        <p:spPr>
          <a:xfrm>
            <a:off x="8705088" y="33832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API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705088" y="38404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C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Entwicklerfreundliche Schicht über TensorFlow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C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 aus fertigen Bausteinen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C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Sehr kompakter Code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IM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Anatomie des MNIST-Modells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166360" cy="4160520"/>
          </a:xfrm>
          <a:prstGeom prst="rect">
            <a:avLst/>
          </a:prstGeom>
          <a:solidFill>
            <a:srgbClr val="0E1633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F5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NeuralNet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(nn.Module):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flatten = nn.Flatten()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fc1 = nn.Linear(28*28, 128)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relu = nn.ReLU()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F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fc2 = nn.Linear(128, 10)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4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 = model(images)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4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criterion(outputs, labels)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optimizer.zero_grad()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loss.backward()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optimizer.step()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554480"/>
            <a:ext cx="5394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55080" y="1792224"/>
            <a:ext cx="438912" cy="438912"/>
          </a:xfrm>
          <a:prstGeom prst="ellipse">
            <a:avLst/>
          </a:prstGeom>
          <a:solidFill>
            <a:srgbClr val="13B5A6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95160" y="169164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Modell-Definition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995160" y="200253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 erbt von nn.Module; Schichten in __init__, Datenfluss in forward().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2615184"/>
            <a:ext cx="5394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2852928"/>
            <a:ext cx="438912" cy="438912"/>
          </a:xfrm>
          <a:prstGeom prst="ellipse">
            <a:avLst/>
          </a:prstGeom>
          <a:solidFill>
            <a:srgbClr val="13B5A6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2852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995160" y="275234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 Pass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995160" y="306324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= model(images) ruft intern forward() auf.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3675888"/>
            <a:ext cx="5394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3913632"/>
            <a:ext cx="438912" cy="438912"/>
          </a:xfrm>
          <a:prstGeom prst="ellipse">
            <a:avLst/>
          </a:prstGeom>
          <a:solidFill>
            <a:srgbClr val="13B5A6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3913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995160" y="38130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Loss-Berechnung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95160" y="412394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= nn.CrossEntropyLoss() vergleicht Vorhersage &amp; Label.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26480" y="4736592"/>
            <a:ext cx="5394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55080" y="4974336"/>
            <a:ext cx="438912" cy="438912"/>
          </a:xfrm>
          <a:prstGeom prst="ellipse">
            <a:avLst/>
          </a:prstGeom>
          <a:solidFill>
            <a:srgbClr val="13B5A6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49743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995160" y="487375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Gewichts-Update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995160" y="5184648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backward() bildet Gradienten, optimizer.step() passt Gewichte an.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NIMMT DAS FRAMEWORK AB?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Selbst programmieren vs. PyTorch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5349240" cy="566928"/>
          </a:xfrm>
          <a:prstGeom prst="rect">
            <a:avLst/>
          </a:prstGeom>
          <a:solidFill>
            <a:srgbClr val="FBE0E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74650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719072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A2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Reine NumPy-Implementierung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F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Pass: Matrixmultiplikation + Bias manuell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F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Backpropagation: Ableitungen &amp; Kettenregel selbst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F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Update-Logik: W = W − lr · dW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F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Aktivierungen (ReLU, Softmax) + ihre Ableitungen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F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Loss-Formel (Cross-Entropy) + Ableitung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F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Batching: Daten selbst auswählen &amp; iterieren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3492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72200" y="1600200"/>
            <a:ext cx="5349240" cy="566928"/>
          </a:xfrm>
          <a:prstGeom prst="rect">
            <a:avLst/>
          </a:prstGeom>
          <a:solidFill>
            <a:srgbClr val="DAF3F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74650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39128" y="1719072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C6E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 übernimmt PyTorch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400800" y="237744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Autograd: Gradienten automatisch via loss.backward()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Fertige Layer &amp; Funktionen (nn.Linear, nn.ReLU)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Loss-Funktionen (nn.CrossEntropyLoss)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(Adam, SGD) über optimizer.step()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Datenpipeline: DataLoader, Shuffling, Transforms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GPU-Beschleunigung mit to(device)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&amp; KERAS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Drei Methoden statt einer Schleife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352044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1947672"/>
            <a:ext cx="713232" cy="713232"/>
          </a:xfrm>
          <a:prstGeom prst="ellipse">
            <a:avLst/>
          </a:prstGeom>
          <a:solidFill>
            <a:srgbClr val="E5F6F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212140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8408" y="27889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B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compile()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78408" y="3227832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Konfiguriert das Training: Optimizer, Loss-Funktion und Metriken (z. B. accuracy) werden festgelegt.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98848" y="1600200"/>
            <a:ext cx="352044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18888" y="1947672"/>
            <a:ext cx="713232" cy="713232"/>
          </a:xfrm>
          <a:prstGeom prst="ellipse">
            <a:avLst/>
          </a:prstGeom>
          <a:solidFill>
            <a:srgbClr val="E5F6F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212140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18888" y="27889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B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fit()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818888" y="3227832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Führt das komplette Training aus — Batch-Iteration, Forward Pass, Loss, Backprop und Updates in einem Aufruf.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339328" y="1600200"/>
            <a:ext cx="352044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59368" y="1947672"/>
            <a:ext cx="713232" cy="713232"/>
          </a:xfrm>
          <a:prstGeom prst="ellipse">
            <a:avLst/>
          </a:prstGeom>
          <a:solidFill>
            <a:srgbClr val="E5F6F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4" y="212140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59368" y="27889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B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evaluate()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659368" y="3227832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Testet das fertige Modell auf ungesehenen Daten: reiner Forward Pass, berechnet Loss &amp; Accuracy.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58368" y="4617720"/>
            <a:ext cx="10844784" cy="1051560"/>
          </a:xfrm>
          <a:prstGeom prst="rect">
            <a:avLst/>
          </a:prstGeom>
          <a:solidFill>
            <a:srgbClr val="0E1633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956048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475488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Kürzer, aber weniger sichtbar.  </a:t>
            </a:r>
            <a:pPr indent="0" marL="0">
              <a:buNone/>
            </a:pPr>
            <a:r>
              <a:rPr lang="en-US" sz="14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fit() verbirgt Data-Loop, Forward Pass, zero_grad(), backward(), step() und die Trennung train/eval — in PyTorch alles explizit.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5 · FASHION-MNIST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Gleiche Architektur, drei Frameworks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76072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373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Test-Accuracy (%) · 1 Hidden Layer, 128 Units, 5 Epochen, Adam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2240280"/>
          <a:ext cx="54864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675120" y="1554480"/>
            <a:ext cx="4846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675120" y="1554480"/>
            <a:ext cx="82296" cy="914400"/>
          </a:xfrm>
          <a:prstGeom prst="rect">
            <a:avLst/>
          </a:prstGeom>
          <a:solidFill>
            <a:srgbClr val="EF5E6B"/>
          </a:solidFill>
          <a:ln/>
        </p:spPr>
      </p:sp>
      <p:sp>
        <p:nvSpPr>
          <p:cNvPr id="9" name="Text 6"/>
          <p:cNvSpPr/>
          <p:nvPr/>
        </p:nvSpPr>
        <p:spPr>
          <a:xfrm>
            <a:off x="6967728" y="169164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Schwieriger als MNIST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67728" y="2002536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Kleidungsstücke haben subtilere Merkmale als klare Ziffern.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75120" y="2615184"/>
            <a:ext cx="4846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75120" y="2615184"/>
            <a:ext cx="82296" cy="914400"/>
          </a:xfrm>
          <a:prstGeom prst="rect">
            <a:avLst/>
          </a:prstGeom>
          <a:solidFill>
            <a:srgbClr val="EF5E6B"/>
          </a:solidFill>
          <a:ln/>
        </p:spPr>
      </p:sp>
      <p:sp>
        <p:nvSpPr>
          <p:cNvPr id="13" name="Text 10"/>
          <p:cNvSpPr/>
          <p:nvPr/>
        </p:nvSpPr>
        <p:spPr>
          <a:xfrm>
            <a:off x="6967728" y="275234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 sinkt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967728" y="3063240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 &gt;97 % (MNIST) nur ~85–88 %.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75120" y="3675888"/>
            <a:ext cx="4846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675120" y="3675888"/>
            <a:ext cx="82296" cy="914400"/>
          </a:xfrm>
          <a:prstGeom prst="rect">
            <a:avLst/>
          </a:prstGeom>
          <a:solidFill>
            <a:srgbClr val="EF5E6B"/>
          </a:solidFill>
          <a:ln/>
        </p:spPr>
      </p:sp>
      <p:sp>
        <p:nvSpPr>
          <p:cNvPr id="17" name="Text 14"/>
          <p:cNvSpPr/>
          <p:nvPr/>
        </p:nvSpPr>
        <p:spPr>
          <a:xfrm>
            <a:off x="6967728" y="38130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Verwechslungen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967728" y="412394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T-Shirt ↔ Pullover ↔ Shirt; Coat ↔ Pullover.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675120" y="4736592"/>
            <a:ext cx="4846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675120" y="4736592"/>
            <a:ext cx="82296" cy="914400"/>
          </a:xfrm>
          <a:prstGeom prst="rect">
            <a:avLst/>
          </a:prstGeom>
          <a:solidFill>
            <a:srgbClr val="EF5E6B"/>
          </a:solidFill>
          <a:ln/>
        </p:spPr>
      </p:sp>
      <p:sp>
        <p:nvSpPr>
          <p:cNvPr id="21" name="Text 18"/>
          <p:cNvSpPr/>
          <p:nvPr/>
        </p:nvSpPr>
        <p:spPr>
          <a:xfrm>
            <a:off x="6967728" y="487375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Ursache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967728" y="518464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ignoriert die 2D-Struktur des Bildes.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6 · CIFAR-10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Farbbilder mit kleinen CNNs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76072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373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Test-Accuracy (%) · CNN, 2 Conv-Lagen, 10 Epochen, Batch 64, Adam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2240280"/>
          <a:ext cx="54864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675120" y="1554480"/>
            <a:ext cx="4846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675120" y="1554480"/>
            <a:ext cx="82296" cy="914400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9" name="Text 6"/>
          <p:cNvSpPr/>
          <p:nvPr/>
        </p:nvSpPr>
        <p:spPr>
          <a:xfrm>
            <a:off x="6967728" y="169164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Echte Fotos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67728" y="2002536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Hintergrund, Beleuchtung, Pose — große Varianz je Klasse.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75120" y="2615184"/>
            <a:ext cx="4846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75120" y="2615184"/>
            <a:ext cx="82296" cy="914400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13" name="Text 10"/>
          <p:cNvSpPr/>
          <p:nvPr/>
        </p:nvSpPr>
        <p:spPr>
          <a:xfrm>
            <a:off x="6967728" y="275234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3072 statt 784 Werte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967728" y="3063240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32×32×3 (RGB) ist fast 4× größer als ein MNIST-Bild.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75120" y="3675888"/>
            <a:ext cx="4846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675120" y="3675888"/>
            <a:ext cx="82296" cy="914400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17" name="Text 14"/>
          <p:cNvSpPr/>
          <p:nvPr/>
        </p:nvSpPr>
        <p:spPr>
          <a:xfrm>
            <a:off x="6967728" y="38130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~65–75 % erreicht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967728" y="412394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Solide Lernübung, aber weit von SoTA (&gt;95 %).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675120" y="4736592"/>
            <a:ext cx="4846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675120" y="4736592"/>
            <a:ext cx="82296" cy="914400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21" name="Text 18"/>
          <p:cNvSpPr/>
          <p:nvPr/>
        </p:nvSpPr>
        <p:spPr>
          <a:xfrm>
            <a:off x="6967728" y="487375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Kanäle = mehr Aufwand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967728" y="518464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Parameter, Rechenzeit &amp; Speicher als bei Graustufen.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CNNS?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Warum Faltungsnetze Bilder besser lösen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303520" cy="1828800"/>
          </a:xfrm>
          <a:prstGeom prst="rect">
            <a:avLst/>
          </a:prstGeom>
          <a:solidFill>
            <a:srgbClr val="1A2348"/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194560"/>
            <a:ext cx="713232" cy="713232"/>
          </a:xfrm>
          <a:prstGeom prst="ellipse">
            <a:avLst/>
          </a:prstGeom>
          <a:solidFill>
            <a:srgbClr val="1120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36829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2037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Räumliche Struktur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965960" y="262432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Faltungen betrachten lokale Bildausschnitte und erkennen Kanten, Ecken &amp; Muster — Dense-Netze sehen jeden Pixel isoliert.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0" y="1874520"/>
            <a:ext cx="5303520" cy="1828800"/>
          </a:xfrm>
          <a:prstGeom prst="rect">
            <a:avLst/>
          </a:prstGeom>
          <a:solidFill>
            <a:srgbClr val="1A2348"/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20840" y="2194560"/>
            <a:ext cx="713232" cy="713232"/>
          </a:xfrm>
          <a:prstGeom prst="ellipse">
            <a:avLst/>
          </a:prstGeom>
          <a:solidFill>
            <a:srgbClr val="1120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576" y="2368296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2037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Parameter-Sharing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635240" y="262432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Filter gleitet über das ganze Bild, statt für jede Position eigene Gewichte zu lernen — drastisch weniger Parameter.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31520" y="3977640"/>
            <a:ext cx="5303520" cy="1828800"/>
          </a:xfrm>
          <a:prstGeom prst="rect">
            <a:avLst/>
          </a:prstGeom>
          <a:solidFill>
            <a:srgbClr val="1A2348"/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51560" y="4297680"/>
            <a:ext cx="713232" cy="713232"/>
          </a:xfrm>
          <a:prstGeom prst="ellipse">
            <a:avLst/>
          </a:prstGeom>
          <a:solidFill>
            <a:srgbClr val="1120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4471416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3068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Translationsinvarianz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965960" y="472744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Objekt wird erkannt, egal an welcher Stelle im Bild es sich befindet.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0" y="3977640"/>
            <a:ext cx="5303520" cy="1828800"/>
          </a:xfrm>
          <a:prstGeom prst="rect">
            <a:avLst/>
          </a:prstGeom>
          <a:solidFill>
            <a:srgbClr val="1A2348"/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720840" y="4297680"/>
            <a:ext cx="713232" cy="713232"/>
          </a:xfrm>
          <a:prstGeom prst="ellipse">
            <a:avLst/>
          </a:prstGeom>
          <a:solidFill>
            <a:srgbClr val="11204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6" y="4471416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43068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Hierarchie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635240" y="472744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Frühe Schichten lernen einfache Kanten, spätere zunehmend komplexe Formen.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Wie ließe sich mehr herausholen?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456432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3456432" cy="91440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1837944"/>
            <a:ext cx="603504" cy="603504"/>
          </a:xfrm>
          <a:prstGeom prst="ellipse">
            <a:avLst/>
          </a:prstGeom>
          <a:solidFill>
            <a:srgbClr val="E5F6F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975104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64208" y="189280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CNNs einsetzen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32688" y="2532888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+ Pooling erhalten die 2D-Struktur → bei Fashion-MNIST sofort &gt;90 %.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98264" y="1508760"/>
            <a:ext cx="3456432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98264" y="1508760"/>
            <a:ext cx="3456432" cy="91440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12" name="Shape 9"/>
          <p:cNvSpPr/>
          <p:nvPr/>
        </p:nvSpPr>
        <p:spPr>
          <a:xfrm>
            <a:off x="4690872" y="1837944"/>
            <a:ext cx="603504" cy="603504"/>
          </a:xfrm>
          <a:prstGeom prst="ellipse">
            <a:avLst/>
          </a:prstGeom>
          <a:solidFill>
            <a:srgbClr val="E5F6F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97510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22392" y="189280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Tiefere Netze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90872" y="2532888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Conv-Schichten &amp; Neuronen — skaliert besser als reine Dense-Netze.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56448" y="1508760"/>
            <a:ext cx="3456432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56448" y="1508760"/>
            <a:ext cx="3456432" cy="91440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18" name="Shape 14"/>
          <p:cNvSpPr/>
          <p:nvPr/>
        </p:nvSpPr>
        <p:spPr>
          <a:xfrm>
            <a:off x="8449056" y="1837944"/>
            <a:ext cx="603504" cy="603504"/>
          </a:xfrm>
          <a:prstGeom prst="ellipse">
            <a:avLst/>
          </a:prstGeom>
          <a:solidFill>
            <a:srgbClr val="E5F6F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16" y="1975104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80576" y="189280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Regularisierung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49056" y="2532888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&amp; Batch-Normalization gegen Overfitting, bessere Generalisierung.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" y="3584448"/>
            <a:ext cx="3456432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0080" y="3584448"/>
            <a:ext cx="3456432" cy="91440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24" name="Shape 19"/>
          <p:cNvSpPr/>
          <p:nvPr/>
        </p:nvSpPr>
        <p:spPr>
          <a:xfrm>
            <a:off x="932688" y="3913632"/>
            <a:ext cx="603504" cy="603504"/>
          </a:xfrm>
          <a:prstGeom prst="ellipse">
            <a:avLst/>
          </a:prstGeom>
          <a:solidFill>
            <a:srgbClr val="E5F6F3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4050792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64208" y="3968496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Augmentation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32688" y="4608576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Spiegeln, Verschieben, Zuschneiden macht das Modell robuster.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398264" y="3584448"/>
            <a:ext cx="3456432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398264" y="3584448"/>
            <a:ext cx="3456432" cy="91440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30" name="Shape 24"/>
          <p:cNvSpPr/>
          <p:nvPr/>
        </p:nvSpPr>
        <p:spPr>
          <a:xfrm>
            <a:off x="4690872" y="3913632"/>
            <a:ext cx="603504" cy="603504"/>
          </a:xfrm>
          <a:prstGeom prst="ellipse">
            <a:avLst/>
          </a:prstGeom>
          <a:solidFill>
            <a:srgbClr val="E5F6F3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4050792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422392" y="3968496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LR-Scheduling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4690872" y="4608576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Lernrate über die Zeit absenken; Training mit Early Stopping.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8156448" y="3584448"/>
            <a:ext cx="3456432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0F22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156448" y="3584448"/>
            <a:ext cx="3456432" cy="91440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36" name="Shape 29"/>
          <p:cNvSpPr/>
          <p:nvPr/>
        </p:nvSpPr>
        <p:spPr>
          <a:xfrm>
            <a:off x="8449056" y="3913632"/>
            <a:ext cx="603504" cy="603504"/>
          </a:xfrm>
          <a:prstGeom prst="ellipse">
            <a:avLst/>
          </a:prstGeom>
          <a:solidFill>
            <a:srgbClr val="E5F6F3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6216" y="4050792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180576" y="3968496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 Learning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8449056" y="4608576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Vortrainiertes Netz (z. B. ResNet) als Basis nutzen.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die Analyse zeigt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10698480" cy="1143000"/>
          </a:xfrm>
          <a:prstGeom prst="rect">
            <a:avLst/>
          </a:prstGeom>
          <a:solidFill>
            <a:srgbClr val="1A2348"/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423160"/>
            <a:ext cx="603504" cy="603504"/>
          </a:xfrm>
          <a:prstGeom prst="ellipse">
            <a:avLst/>
          </a:prstGeom>
          <a:solidFill>
            <a:srgbClr val="1120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56032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331720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Abstraktion ist ein Trade-off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920240" y="271576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zeigt jeden Schritt und gibt Kontrolle; Keras/TF kapseln alles in fit() — kürzer, aber undurchsichtiger.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3474720"/>
            <a:ext cx="10698480" cy="1143000"/>
          </a:xfrm>
          <a:prstGeom prst="rect">
            <a:avLst/>
          </a:prstGeom>
          <a:solidFill>
            <a:srgbClr val="1A2348"/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51560" y="3749040"/>
            <a:ext cx="603504" cy="603504"/>
          </a:xfrm>
          <a:prstGeom prst="ellipse">
            <a:avLst/>
          </a:prstGeom>
          <a:solidFill>
            <a:srgbClr val="1120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388620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3657600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Gleiche Architektur, gleiche Leistung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920240" y="404164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drei Frameworks liefern nahezu identische Accuracy (~87 % Fashion-MNIST, ~70 % CIFAR-10) — die Wahl ist Geschmackssache.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31520" y="4800600"/>
            <a:ext cx="10698480" cy="1143000"/>
          </a:xfrm>
          <a:prstGeom prst="rect">
            <a:avLst/>
          </a:prstGeom>
          <a:solidFill>
            <a:srgbClr val="1A2348"/>
          </a:solidFill>
          <a:ln w="12700">
            <a:solidFill>
              <a:srgbClr val="2A376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51560" y="5074920"/>
            <a:ext cx="603504" cy="603504"/>
          </a:xfrm>
          <a:prstGeom prst="ellipse">
            <a:avLst/>
          </a:prstGeom>
          <a:solidFill>
            <a:srgbClr val="1120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521208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983480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Die Architektur entscheidet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920240" y="536752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das Framework, sondern der Modelltyp zählt: CNNs schlagen Dense-Netze bei Bildern deutlich.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31520" y="6263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Danke für die Aufmerksamkeit.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Deep-Learning-Frameworks im Vergleich</dc:title>
  <dc:subject>PptxGenJS Presentation</dc:subject>
  <dc:creator>Florian Harucksteiner</dc:creator>
  <cp:lastModifiedBy>Florian Harucksteiner</cp:lastModifiedBy>
  <cp:revision>1</cp:revision>
  <dcterms:created xsi:type="dcterms:W3CDTF">2026-06-22T06:32:24Z</dcterms:created>
  <dcterms:modified xsi:type="dcterms:W3CDTF">2026-06-22T06:32:24Z</dcterms:modified>
</cp:coreProperties>
</file>